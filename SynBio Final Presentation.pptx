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49F6D1-BF9C-4E9C-A3D1-F067BCA56844}">
  <a:tblStyle styleId="{F449F6D1-BF9C-4E9C-A3D1-F067BCA568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e2c6f18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e2c6f18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study usually combines the strategies together using DNA circuit implemented via plasmids.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our project, we combined quorum sensing and hypoxia-inducible promoter to create an AND-gate circuit, which relies on secretion to administer the medication.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e2c6f18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3e2c6f18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e725d0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e725d0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c788d40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c788d40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3e2c6f18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3e2c6f1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e2c6f1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3e2c6f1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3e2c6f18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3e2c6f18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3e2c6f1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3e2c6f1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e2c6f18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3e2c6f18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end, the </a:t>
            </a:r>
            <a:r>
              <a:rPr lang="en"/>
              <a:t>current</a:t>
            </a:r>
            <a:r>
              <a:rPr lang="en"/>
              <a:t> testing is restricted to the CRISPRi system on nirB promoter.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3e2c6f18c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3e2c6f18c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AND-gate DNA Circuit for Peptide Drug Secretion in E. Coli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Heidi Neuman, Peter Xu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Background &amp;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treatment for cancers in general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Surgery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Radiotherapy &amp; chemotherapy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Bacteria therapy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Cancerous environment (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anaerobic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/lactose-rich) induced cell activity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lysis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Secretion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Quorum sensing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proposal: AND gate in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E.Coli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K-12 strain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Background &amp; Motivation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 simple AND logic?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circuit is less stable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E.Coli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K-12?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Nonpathogenic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Well-studied with a rich library of components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 secretion protein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 hypoxia-inducible promoter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Naturally prefers anaerobic environment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Localized quorum sensing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Circuit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" name="Google Shape;73;p16"/>
          <p:cNvGrpSpPr/>
          <p:nvPr/>
        </p:nvGrpSpPr>
        <p:grpSpPr>
          <a:xfrm>
            <a:off x="6128940" y="1759167"/>
            <a:ext cx="2061921" cy="497034"/>
            <a:chOff x="3402750" y="2642638"/>
            <a:chExt cx="1468500" cy="353988"/>
          </a:xfrm>
        </p:grpSpPr>
        <p:cxnSp>
          <p:nvCxnSpPr>
            <p:cNvPr id="74" name="Google Shape;74;p16"/>
            <p:cNvCxnSpPr/>
            <p:nvPr/>
          </p:nvCxnSpPr>
          <p:spPr>
            <a:xfrm>
              <a:off x="3402750" y="2887125"/>
              <a:ext cx="1468500" cy="7500"/>
            </a:xfrm>
            <a:prstGeom prst="straightConnector1">
              <a:avLst/>
            </a:prstGeom>
            <a:noFill/>
            <a:ln cap="flat" cmpd="sng" w="133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" name="Google Shape;75;p16"/>
            <p:cNvSpPr/>
            <p:nvPr/>
          </p:nvSpPr>
          <p:spPr>
            <a:xfrm>
              <a:off x="4121150" y="2785125"/>
              <a:ext cx="596700" cy="2115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 cap="flat" cmpd="sng" w="13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350" lIns="128350" spcFirstLastPara="1" rIns="128350" wrap="square" tIns="128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3">
                  <a:latin typeface="Times New Roman"/>
                  <a:ea typeface="Times New Roman"/>
                  <a:cs typeface="Times New Roman"/>
                  <a:sym typeface="Times New Roman"/>
                </a:rPr>
                <a:t>gRNA2</a:t>
              </a:r>
              <a:endParaRPr sz="1123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>
              <a:off x="3797275" y="2643675"/>
              <a:ext cx="1800" cy="2472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6"/>
            <p:cNvCxnSpPr/>
            <p:nvPr/>
          </p:nvCxnSpPr>
          <p:spPr>
            <a:xfrm flipH="1" rot="10800000">
              <a:off x="3799075" y="2642638"/>
              <a:ext cx="289500" cy="60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8" name="Google Shape;78;p16"/>
          <p:cNvGrpSpPr/>
          <p:nvPr/>
        </p:nvGrpSpPr>
        <p:grpSpPr>
          <a:xfrm>
            <a:off x="3772158" y="2963552"/>
            <a:ext cx="4418703" cy="499368"/>
            <a:chOff x="3659925" y="3269400"/>
            <a:chExt cx="3147000" cy="355650"/>
          </a:xfrm>
        </p:grpSpPr>
        <p:cxnSp>
          <p:nvCxnSpPr>
            <p:cNvPr id="79" name="Google Shape;79;p16"/>
            <p:cNvCxnSpPr/>
            <p:nvPr/>
          </p:nvCxnSpPr>
          <p:spPr>
            <a:xfrm flipH="1" rot="10800000">
              <a:off x="3659925" y="3522475"/>
              <a:ext cx="3147000" cy="12600"/>
            </a:xfrm>
            <a:prstGeom prst="straightConnector1">
              <a:avLst/>
            </a:prstGeom>
            <a:noFill/>
            <a:ln cap="flat" cmpd="sng" w="133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" name="Google Shape;80;p16"/>
            <p:cNvSpPr/>
            <p:nvPr/>
          </p:nvSpPr>
          <p:spPr>
            <a:xfrm>
              <a:off x="4833450" y="3413550"/>
              <a:ext cx="922200" cy="2115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 cap="flat" cmpd="sng" w="13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350" lIns="128350" spcFirstLastPara="1" rIns="128350" wrap="square" tIns="128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3">
                  <a:latin typeface="Times New Roman"/>
                  <a:ea typeface="Times New Roman"/>
                  <a:cs typeface="Times New Roman"/>
                  <a:sym typeface="Times New Roman"/>
                </a:rPr>
                <a:t>Peptide Drug</a:t>
              </a:r>
              <a:endParaRPr sz="1123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1" name="Google Shape;81;p16"/>
            <p:cNvCxnSpPr/>
            <p:nvPr/>
          </p:nvCxnSpPr>
          <p:spPr>
            <a:xfrm rot="10800000">
              <a:off x="4466950" y="3269400"/>
              <a:ext cx="0" cy="2532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 flipH="1" rot="10800000">
              <a:off x="4466950" y="3269400"/>
              <a:ext cx="289500" cy="60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" name="Google Shape;83;p16"/>
            <p:cNvSpPr/>
            <p:nvPr/>
          </p:nvSpPr>
          <p:spPr>
            <a:xfrm>
              <a:off x="6038525" y="3413550"/>
              <a:ext cx="596700" cy="2115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 cap="flat" cmpd="sng" w="13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350" lIns="128350" spcFirstLastPara="1" rIns="128350" wrap="square" tIns="128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3">
                  <a:latin typeface="Times New Roman"/>
                  <a:ea typeface="Times New Roman"/>
                  <a:cs typeface="Times New Roman"/>
                  <a:sym typeface="Times New Roman"/>
                </a:rPr>
                <a:t>GFP</a:t>
              </a:r>
              <a:endParaRPr sz="1123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84" name="Google Shape;84;p16"/>
          <p:cNvCxnSpPr/>
          <p:nvPr/>
        </p:nvCxnSpPr>
        <p:spPr>
          <a:xfrm flipH="1" rot="10800000">
            <a:off x="953147" y="2111561"/>
            <a:ext cx="4657119" cy="3791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/>
          <p:nvPr/>
        </p:nvSpPr>
        <p:spPr>
          <a:xfrm>
            <a:off x="3180936" y="1964943"/>
            <a:ext cx="641400" cy="2970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LuxI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648130" y="1959843"/>
            <a:ext cx="837900" cy="2970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gRNA1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 rot="10800000">
            <a:off x="2596125" y="1757004"/>
            <a:ext cx="0" cy="3555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6"/>
          <p:cNvCxnSpPr/>
          <p:nvPr/>
        </p:nvCxnSpPr>
        <p:spPr>
          <a:xfrm>
            <a:off x="2596113" y="1753408"/>
            <a:ext cx="384600" cy="84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/>
          <p:nvPr/>
        </p:nvSpPr>
        <p:spPr>
          <a:xfrm>
            <a:off x="1404564" y="1958711"/>
            <a:ext cx="690300" cy="2970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LuxR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" name="Google Shape;90;p16"/>
          <p:cNvCxnSpPr>
            <a:stCxn id="75" idx="2"/>
          </p:cNvCxnSpPr>
          <p:nvPr/>
        </p:nvCxnSpPr>
        <p:spPr>
          <a:xfrm rot="5400000">
            <a:off x="5838167" y="1014051"/>
            <a:ext cx="402000" cy="2886300"/>
          </a:xfrm>
          <a:prstGeom prst="bentConnector2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4593732" y="2660161"/>
            <a:ext cx="0" cy="538753"/>
          </a:xfrm>
          <a:prstGeom prst="straightConnector1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 flipH="1" rot="10800000">
            <a:off x="4520859" y="3198914"/>
            <a:ext cx="145746" cy="421"/>
          </a:xfrm>
          <a:prstGeom prst="straightConnector1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>
            <a:stCxn id="86" idx="0"/>
          </p:cNvCxnSpPr>
          <p:nvPr/>
        </p:nvCxnSpPr>
        <p:spPr>
          <a:xfrm rot="-5400000">
            <a:off x="5511380" y="1104393"/>
            <a:ext cx="336900" cy="1374000"/>
          </a:xfrm>
          <a:prstGeom prst="bentConnector2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/>
          <p:nvPr/>
        </p:nvCxnSpPr>
        <p:spPr>
          <a:xfrm flipH="1">
            <a:off x="6368475" y="1623000"/>
            <a:ext cx="4500" cy="394200"/>
          </a:xfrm>
          <a:prstGeom prst="straightConnector1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6311754" y="2024525"/>
            <a:ext cx="125527" cy="0"/>
          </a:xfrm>
          <a:prstGeom prst="straightConnector1">
            <a:avLst/>
          </a:prstGeom>
          <a:noFill/>
          <a:ln cap="flat" cmpd="sng" w="133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/>
          <p:nvPr/>
        </p:nvCxnSpPr>
        <p:spPr>
          <a:xfrm flipH="1" rot="10800000">
            <a:off x="953147" y="3344765"/>
            <a:ext cx="2037490" cy="5476"/>
          </a:xfrm>
          <a:prstGeom prst="straightConnector1">
            <a:avLst/>
          </a:prstGeom>
          <a:noFill/>
          <a:ln cap="flat" cmpd="sng" w="133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/>
          <p:nvPr/>
        </p:nvCxnSpPr>
        <p:spPr>
          <a:xfrm rot="10800000">
            <a:off x="1321863" y="2994723"/>
            <a:ext cx="0" cy="3555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/>
          <p:nvPr/>
        </p:nvCxnSpPr>
        <p:spPr>
          <a:xfrm flipH="1" rot="10800000">
            <a:off x="1321863" y="2994747"/>
            <a:ext cx="406500" cy="84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6"/>
          <p:cNvSpPr/>
          <p:nvPr/>
        </p:nvSpPr>
        <p:spPr>
          <a:xfrm>
            <a:off x="2029600" y="3196685"/>
            <a:ext cx="641533" cy="296967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FNR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 flipH="1" rot="10800000">
            <a:off x="2262891" y="2851803"/>
            <a:ext cx="1838248" cy="347515"/>
          </a:xfrm>
          <a:prstGeom prst="bentConnector3">
            <a:avLst>
              <a:gd fmla="val 122" name="adj1"/>
            </a:avLst>
          </a:prstGeom>
          <a:noFill/>
          <a:ln cap="flat" cmpd="sng" w="13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4101139" y="2852663"/>
            <a:ext cx="5476" cy="345830"/>
          </a:xfrm>
          <a:prstGeom prst="straightConnector1">
            <a:avLst/>
          </a:prstGeom>
          <a:noFill/>
          <a:ln cap="flat" cmpd="sng" w="133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>
            <a:stCxn id="85" idx="0"/>
          </p:cNvCxnSpPr>
          <p:nvPr/>
        </p:nvCxnSpPr>
        <p:spPr>
          <a:xfrm flipH="1" rot="5400000">
            <a:off x="2504286" y="1041843"/>
            <a:ext cx="359400" cy="1486800"/>
          </a:xfrm>
          <a:prstGeom prst="bentConnector2">
            <a:avLst/>
          </a:prstGeom>
          <a:noFill/>
          <a:ln cap="flat" cmpd="sng" w="13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6"/>
          <p:cNvCxnSpPr>
            <a:stCxn id="89" idx="0"/>
          </p:cNvCxnSpPr>
          <p:nvPr/>
        </p:nvCxnSpPr>
        <p:spPr>
          <a:xfrm rot="-5400000">
            <a:off x="1892814" y="1383761"/>
            <a:ext cx="357600" cy="792300"/>
          </a:xfrm>
          <a:prstGeom prst="bentConnector2">
            <a:avLst/>
          </a:prstGeom>
          <a:noFill/>
          <a:ln cap="flat" cmpd="sng" w="13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2345500" y="1613600"/>
            <a:ext cx="0" cy="396600"/>
          </a:xfrm>
          <a:prstGeom prst="straightConnector1">
            <a:avLst/>
          </a:prstGeom>
          <a:noFill/>
          <a:ln cap="flat" cmpd="sng" w="133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6"/>
          <p:cNvSpPr/>
          <p:nvPr/>
        </p:nvSpPr>
        <p:spPr>
          <a:xfrm>
            <a:off x="5222487" y="1484262"/>
            <a:ext cx="717270" cy="214044"/>
          </a:xfrm>
          <a:prstGeom prst="flowChartTerminator">
            <a:avLst/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dCas9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786375" y="2529860"/>
            <a:ext cx="717270" cy="214044"/>
          </a:xfrm>
          <a:prstGeom prst="flowChartTerminator">
            <a:avLst/>
          </a:prstGeom>
          <a:solidFill>
            <a:schemeClr val="lt2"/>
          </a:solidFill>
          <a:ln cap="flat" cmpd="sng" w="13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3">
                <a:latin typeface="Times New Roman"/>
                <a:ea typeface="Times New Roman"/>
                <a:cs typeface="Times New Roman"/>
                <a:sym typeface="Times New Roman"/>
              </a:rPr>
              <a:t>dCas9</a:t>
            </a:r>
            <a:endParaRPr sz="112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3082605" y="3935786"/>
            <a:ext cx="2042544" cy="498017"/>
            <a:chOff x="2069525" y="3833838"/>
            <a:chExt cx="1454700" cy="354688"/>
          </a:xfrm>
        </p:grpSpPr>
        <p:cxnSp>
          <p:nvCxnSpPr>
            <p:cNvPr id="108" name="Google Shape;108;p16"/>
            <p:cNvCxnSpPr/>
            <p:nvPr/>
          </p:nvCxnSpPr>
          <p:spPr>
            <a:xfrm>
              <a:off x="2069525" y="4078425"/>
              <a:ext cx="1454700" cy="0"/>
            </a:xfrm>
            <a:prstGeom prst="straightConnector1">
              <a:avLst/>
            </a:prstGeom>
            <a:noFill/>
            <a:ln cap="flat" cmpd="sng" w="133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16"/>
            <p:cNvCxnSpPr/>
            <p:nvPr/>
          </p:nvCxnSpPr>
          <p:spPr>
            <a:xfrm rot="10800000">
              <a:off x="2348125" y="3833838"/>
              <a:ext cx="0" cy="2532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6"/>
            <p:cNvCxnSpPr/>
            <p:nvPr/>
          </p:nvCxnSpPr>
          <p:spPr>
            <a:xfrm flipH="1" rot="10800000">
              <a:off x="2348125" y="3833850"/>
              <a:ext cx="289500" cy="6000"/>
            </a:xfrm>
            <a:prstGeom prst="straightConnector1">
              <a:avLst/>
            </a:prstGeom>
            <a:noFill/>
            <a:ln cap="flat" cmpd="sng" w="133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" name="Google Shape;111;p16"/>
            <p:cNvSpPr/>
            <p:nvPr/>
          </p:nvSpPr>
          <p:spPr>
            <a:xfrm>
              <a:off x="2808750" y="3977025"/>
              <a:ext cx="492900" cy="2115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 cap="flat" cmpd="sng" w="13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350" lIns="128350" spcFirstLastPara="1" rIns="128350" wrap="square" tIns="128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3">
                  <a:latin typeface="Times New Roman"/>
                  <a:ea typeface="Times New Roman"/>
                  <a:cs typeface="Times New Roman"/>
                  <a:sym typeface="Times New Roman"/>
                </a:rPr>
                <a:t>dCas9</a:t>
              </a:r>
              <a:endParaRPr sz="1123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2" name="Google Shape;112;p16"/>
          <p:cNvCxnSpPr/>
          <p:nvPr/>
        </p:nvCxnSpPr>
        <p:spPr>
          <a:xfrm rot="10800000">
            <a:off x="4062702" y="1759834"/>
            <a:ext cx="0" cy="355518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6"/>
          <p:cNvCxnSpPr/>
          <p:nvPr/>
        </p:nvCxnSpPr>
        <p:spPr>
          <a:xfrm flipH="1" rot="10800000">
            <a:off x="4062702" y="1753411"/>
            <a:ext cx="406487" cy="8425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6"/>
          <p:cNvCxnSpPr/>
          <p:nvPr/>
        </p:nvCxnSpPr>
        <p:spPr>
          <a:xfrm rot="10800000">
            <a:off x="1021813" y="1759836"/>
            <a:ext cx="0" cy="3555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/>
          <p:nvPr/>
        </p:nvCxnSpPr>
        <p:spPr>
          <a:xfrm flipH="1" rot="10800000">
            <a:off x="1021813" y="1753410"/>
            <a:ext cx="406500" cy="8400"/>
          </a:xfrm>
          <a:prstGeom prst="straightConnector1">
            <a:avLst/>
          </a:prstGeom>
          <a:noFill/>
          <a:ln cap="flat" cmpd="sng" w="13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6"/>
          <p:cNvSpPr/>
          <p:nvPr/>
        </p:nvSpPr>
        <p:spPr>
          <a:xfrm>
            <a:off x="797725" y="2631275"/>
            <a:ext cx="2383200" cy="12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362600" y="4245250"/>
            <a:ext cx="166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already native to E. Coli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" name="Google Shape;118;p16"/>
          <p:cNvCxnSpPr>
            <a:stCxn id="116" idx="2"/>
            <a:endCxn id="117" idx="0"/>
          </p:cNvCxnSpPr>
          <p:nvPr/>
        </p:nvCxnSpPr>
        <p:spPr>
          <a:xfrm flipH="1">
            <a:off x="1196125" y="3869675"/>
            <a:ext cx="793200" cy="3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6"/>
          <p:cNvSpPr txBox="1"/>
          <p:nvPr/>
        </p:nvSpPr>
        <p:spPr>
          <a:xfrm>
            <a:off x="3822325" y="3336700"/>
            <a:ext cx="120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NirB Promoter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126775" y="2068537"/>
            <a:ext cx="120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Lux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730150" y="2068525"/>
            <a:ext cx="120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Lux Promoter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254393" y="514189"/>
            <a:ext cx="2469323" cy="2592081"/>
            <a:chOff x="4218875" y="1005225"/>
            <a:chExt cx="3635100" cy="3815812"/>
          </a:xfrm>
        </p:grpSpPr>
        <p:pic>
          <p:nvPicPr>
            <p:cNvPr id="127" name="Google Shape;127;p17" title="IMG_0246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18875" y="1005225"/>
              <a:ext cx="3635100" cy="38158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 txBox="1"/>
            <p:nvPr/>
          </p:nvSpPr>
          <p:spPr>
            <a:xfrm rot="-625909">
              <a:off x="5565016" y="1490669"/>
              <a:ext cx="472205" cy="307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LuxR</a:t>
              </a:r>
              <a:endParaRPr sz="54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 rot="1346609">
              <a:off x="6449395" y="1672665"/>
              <a:ext cx="472271" cy="307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LuxI</a:t>
              </a:r>
              <a:endParaRPr sz="951"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 rot="3829699">
              <a:off x="6997138" y="2280561"/>
              <a:ext cx="508091" cy="30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gRNA1</a:t>
              </a:r>
              <a:endParaRPr sz="951">
                <a:solidFill>
                  <a:schemeClr val="dk1"/>
                </a:solidFill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 rot="6268668">
              <a:off x="7082019" y="3170611"/>
              <a:ext cx="500390" cy="30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gRNA2</a:t>
              </a:r>
              <a:endParaRPr sz="951">
                <a:solidFill>
                  <a:schemeClr val="dk1"/>
                </a:solidFill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 rot="-2175330">
              <a:off x="6529347" y="3985425"/>
              <a:ext cx="553952" cy="307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Peptide</a:t>
              </a:r>
              <a:endParaRPr sz="951">
                <a:solidFill>
                  <a:schemeClr val="dk1"/>
                </a:solidFill>
              </a:endParaRPr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5736125" y="4282600"/>
              <a:ext cx="472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125" lIns="62125" spcFirstLastPara="1" rIns="62125" wrap="square" tIns="62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GFP</a:t>
              </a:r>
              <a:endParaRPr sz="951">
                <a:solidFill>
                  <a:schemeClr val="dk1"/>
                </a:solidFill>
              </a:endParaRPr>
            </a:p>
          </p:txBody>
        </p:sp>
      </p:grpSp>
      <p:sp>
        <p:nvSpPr>
          <p:cNvPr id="134" name="Google Shape;134;p17"/>
          <p:cNvSpPr txBox="1"/>
          <p:nvPr>
            <p:ph type="title"/>
          </p:nvPr>
        </p:nvSpPr>
        <p:spPr>
          <a:xfrm>
            <a:off x="311700" y="162325"/>
            <a:ext cx="32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Sequence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5" name="Google Shape;135;p17"/>
          <p:cNvCxnSpPr/>
          <p:nvPr/>
        </p:nvCxnSpPr>
        <p:spPr>
          <a:xfrm>
            <a:off x="7337797" y="2699100"/>
            <a:ext cx="1168500" cy="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5302036" y="1802659"/>
            <a:ext cx="1350600" cy="72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7069349" y="1789040"/>
            <a:ext cx="1705500" cy="11700"/>
          </a:xfrm>
          <a:prstGeom prst="straightConnector1">
            <a:avLst/>
          </a:prstGeom>
          <a:noFill/>
          <a:ln cap="flat" cmpd="sng" w="97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7"/>
          <p:cNvSpPr/>
          <p:nvPr/>
        </p:nvSpPr>
        <p:spPr>
          <a:xfrm>
            <a:off x="7611237" y="1688275"/>
            <a:ext cx="9396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Peptide Drug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39;p17"/>
          <p:cNvCxnSpPr/>
          <p:nvPr/>
        </p:nvCxnSpPr>
        <p:spPr>
          <a:xfrm rot="10800000">
            <a:off x="7237934" y="1541347"/>
            <a:ext cx="0" cy="2580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7"/>
          <p:cNvCxnSpPr/>
          <p:nvPr/>
        </p:nvCxnSpPr>
        <p:spPr>
          <a:xfrm flipH="1" rot="10800000">
            <a:off x="7237934" y="1540963"/>
            <a:ext cx="294900" cy="66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17"/>
          <p:cNvSpPr/>
          <p:nvPr/>
        </p:nvSpPr>
        <p:spPr>
          <a:xfrm>
            <a:off x="7616302" y="2593371"/>
            <a:ext cx="607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GFP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17"/>
          <p:cNvCxnSpPr/>
          <p:nvPr/>
        </p:nvCxnSpPr>
        <p:spPr>
          <a:xfrm>
            <a:off x="3154743" y="2190978"/>
            <a:ext cx="1951500" cy="18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7"/>
          <p:cNvSpPr/>
          <p:nvPr/>
        </p:nvSpPr>
        <p:spPr>
          <a:xfrm>
            <a:off x="4458132" y="2073056"/>
            <a:ext cx="4653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LuxI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42969" y="1692476"/>
            <a:ext cx="607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gRNA1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5" name="Google Shape;145;p17"/>
          <p:cNvCxnSpPr/>
          <p:nvPr/>
        </p:nvCxnSpPr>
        <p:spPr>
          <a:xfrm rot="10800000">
            <a:off x="4122019" y="1928318"/>
            <a:ext cx="0" cy="2580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/>
          <p:nvPr/>
        </p:nvCxnSpPr>
        <p:spPr>
          <a:xfrm>
            <a:off x="4122019" y="1920414"/>
            <a:ext cx="279000" cy="66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7"/>
          <p:cNvSpPr/>
          <p:nvPr/>
        </p:nvSpPr>
        <p:spPr>
          <a:xfrm>
            <a:off x="3486742" y="2080783"/>
            <a:ext cx="5010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LuxR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8" name="Google Shape;148;p17"/>
          <p:cNvCxnSpPr/>
          <p:nvPr/>
        </p:nvCxnSpPr>
        <p:spPr>
          <a:xfrm rot="10800000">
            <a:off x="5515349" y="1552398"/>
            <a:ext cx="0" cy="2580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7"/>
          <p:cNvCxnSpPr/>
          <p:nvPr/>
        </p:nvCxnSpPr>
        <p:spPr>
          <a:xfrm flipH="1" rot="10800000">
            <a:off x="5515349" y="1547354"/>
            <a:ext cx="294900" cy="66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5302036" y="2668299"/>
            <a:ext cx="1350600" cy="72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7"/>
          <p:cNvSpPr/>
          <p:nvPr/>
        </p:nvSpPr>
        <p:spPr>
          <a:xfrm>
            <a:off x="5842969" y="2558116"/>
            <a:ext cx="607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00" lIns="93100" spcFirstLastPara="1" rIns="93100" wrap="square" tIns="9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latin typeface="Times New Roman"/>
                <a:ea typeface="Times New Roman"/>
                <a:cs typeface="Times New Roman"/>
                <a:sym typeface="Times New Roman"/>
              </a:rPr>
              <a:t>gRNA2</a:t>
            </a:r>
            <a:endParaRPr sz="8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2" name="Google Shape;152;p17"/>
          <p:cNvCxnSpPr/>
          <p:nvPr/>
        </p:nvCxnSpPr>
        <p:spPr>
          <a:xfrm rot="10800000">
            <a:off x="5515349" y="2418038"/>
            <a:ext cx="0" cy="2580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7"/>
          <p:cNvCxnSpPr/>
          <p:nvPr/>
        </p:nvCxnSpPr>
        <p:spPr>
          <a:xfrm flipH="1" rot="10800000">
            <a:off x="5515349" y="2412994"/>
            <a:ext cx="294900" cy="66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7"/>
          <p:cNvCxnSpPr/>
          <p:nvPr/>
        </p:nvCxnSpPr>
        <p:spPr>
          <a:xfrm rot="10800000">
            <a:off x="3245278" y="1929254"/>
            <a:ext cx="0" cy="2580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3245278" y="1925243"/>
            <a:ext cx="279000" cy="6600"/>
          </a:xfrm>
          <a:prstGeom prst="straightConnector1">
            <a:avLst/>
          </a:prstGeom>
          <a:noFill/>
          <a:ln cap="flat" cmpd="sng" w="97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7"/>
          <p:cNvSpPr txBox="1"/>
          <p:nvPr/>
        </p:nvSpPr>
        <p:spPr>
          <a:xfrm>
            <a:off x="2853850" y="2186294"/>
            <a:ext cx="670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Anderson Promoter</a:t>
            </a:r>
            <a:endParaRPr sz="7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3987558" y="2138412"/>
            <a:ext cx="670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Plux</a:t>
            </a: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Promoter</a:t>
            </a:r>
            <a:endParaRPr sz="7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180082" y="2620417"/>
            <a:ext cx="670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Anderson Promoter</a:t>
            </a:r>
            <a:endParaRPr sz="7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302036" y="1751599"/>
            <a:ext cx="670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Plux Promoter</a:t>
            </a:r>
            <a:endParaRPr sz="7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050059" y="1734173"/>
            <a:ext cx="670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NirB Promoter</a:t>
            </a:r>
            <a:endParaRPr sz="7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2540000" y="735025"/>
            <a:ext cx="3782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Plasmid backbone from Addgene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inserts designed in Benchling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62" name="Google Shape;162;p17" title="IMG_024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75" y="3106275"/>
            <a:ext cx="1886374" cy="186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328724" y="3229684"/>
            <a:ext cx="3207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25" lIns="62125" spcFirstLastPara="1" rIns="62125" wrap="square" tIns="62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dCas9</a:t>
            </a:r>
            <a:endParaRPr sz="951">
              <a:solidFill>
                <a:schemeClr val="dk1"/>
              </a:solidFill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4281725" y="3193150"/>
            <a:ext cx="2530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540000" y="3291038"/>
            <a:ext cx="4838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Plasmid Backbone from Addgene with dCas9 CDS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the promoter in Benchling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6" name="Google Shape;166;p17"/>
          <p:cNvCxnSpPr/>
          <p:nvPr/>
        </p:nvCxnSpPr>
        <p:spPr>
          <a:xfrm>
            <a:off x="4461799" y="4328215"/>
            <a:ext cx="939600" cy="5100"/>
          </a:xfrm>
          <a:prstGeom prst="straightConnector1">
            <a:avLst/>
          </a:prstGeom>
          <a:noFill/>
          <a:ln cap="flat" cmpd="sng" w="100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7"/>
          <p:cNvCxnSpPr/>
          <p:nvPr/>
        </p:nvCxnSpPr>
        <p:spPr>
          <a:xfrm rot="10800000">
            <a:off x="4689312" y="4061369"/>
            <a:ext cx="0" cy="275100"/>
          </a:xfrm>
          <a:prstGeom prst="straightConnector1">
            <a:avLst/>
          </a:prstGeom>
          <a:noFill/>
          <a:ln cap="flat" cmpd="sng" w="103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7"/>
          <p:cNvCxnSpPr/>
          <p:nvPr/>
        </p:nvCxnSpPr>
        <p:spPr>
          <a:xfrm flipH="1" rot="10800000">
            <a:off x="4689312" y="4056051"/>
            <a:ext cx="314400" cy="6900"/>
          </a:xfrm>
          <a:prstGeom prst="straightConnector1">
            <a:avLst/>
          </a:prstGeom>
          <a:noFill/>
          <a:ln cap="flat" cmpd="sng" w="103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7"/>
          <p:cNvSpPr txBox="1"/>
          <p:nvPr/>
        </p:nvSpPr>
        <p:spPr>
          <a:xfrm>
            <a:off x="4488893" y="4277145"/>
            <a:ext cx="715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6075" lIns="96075" spcFirstLastPara="1" rIns="96075" wrap="square" tIns="9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Anderson Promoter</a:t>
            </a:r>
            <a:endParaRPr sz="8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Build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311700" y="1017725"/>
            <a:ext cx="8649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Backbones from Addgene are amplified via PCR with primers ordered from IDT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Inserts with necessary overlaps are ordered from IDT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888" y="1986100"/>
            <a:ext cx="7552224" cy="274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95900" y="4568825"/>
            <a:ext cx="718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borrowed from: https://www.thermofisher.com/blog/life-in-the-lab/gibson-assembly-101-expert-cloning-tips-you-need-to-know/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assume the production of GFP is equivalent to Peptide Drug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each tube, we keep the population of bacteria constant while varying the oxygen level and AHL concentration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AHL is extracted during the growth of bacteria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275" y="2571775"/>
            <a:ext cx="6811441" cy="226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166275" y="4789500"/>
            <a:ext cx="557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borrowed from Lecture 14, Page 31</a:t>
            </a:r>
            <a:endParaRPr sz="1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311700" y="1152475"/>
            <a:ext cx="8520600" cy="11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Fluorescent signal is converted to GFP density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GFP density to plot a heat map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against the ideal AND-gate under mass kinetic assumption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138" y="2344075"/>
            <a:ext cx="3327725" cy="2799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Budget &amp; Timeline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4077100" y="907575"/>
            <a:ext cx="1365600" cy="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Synthesizing sequences ~ 1wk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311700" y="13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{F449F6D1-BF9C-4E9C-A3D1-F067BCA56844}</a:tableStyleId>
              </a:tblPr>
              <a:tblGrid>
                <a:gridCol w="1413450"/>
                <a:gridCol w="835125"/>
                <a:gridCol w="1049475"/>
              </a:tblGrid>
              <a:tr h="43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DNA 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plasmids,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primers,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inserts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$829.17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Addgene and IDT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E. Coli Strain K-12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ATCC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$915.17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0" name="Google Shape;200;p21" title="Screenshot 2025-12-02 at 14.19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175" y="1525575"/>
            <a:ext cx="2895925" cy="26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211100" y="892575"/>
            <a:ext cx="1621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Assembling plasmids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 2wk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544775" y="1451425"/>
            <a:ext cx="46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4184150" y="4089850"/>
            <a:ext cx="1365600" cy="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analysis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0.5wk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997525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borrowed from Lecture 24, Page 18</a:t>
            </a:r>
            <a:endParaRPr sz="1300"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7057975" y="4089850"/>
            <a:ext cx="1478400" cy="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experiments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1wk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Limitation &amp; Future Directions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11700" y="11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is limited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Oxygen binding rate with FNR protein is ignored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GFP indirectly reports the secretion of Peptide 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AHL quorum sensing is simulated by manually tuning AHL concentration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next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the oxygen-FNR reaction and AHL production in the model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oxygen the sole independent variable in testing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the anti-tumor effect in mice model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Tiffany Chien, Anjali Doshi, and Tal Danino. “Advances in bacterial cancer therapies using synthetic biology”. In: Current Opinion in Systems Biology 5 (2017). • Synthetic biology• Development and differentiation, pp. 1–8. issn: 2452-3100. doi: https://doi.org/10.1016/j.coisb.2017.05.009. url: https://www.sciencedirect.com/science/article/pii/S2452310017300975.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Crescenzo D’Alterio et al. “New CXCR4 Antagonist Peptide R (Pep R) Improves Standard Therapy in Colorectal Cancer”. In: Cancers 12.7 (2020). issn: 2072-6694. doi: 10.3390/cancers12071952. url: https://www.mdpi.com/2072-6694/12/7/1952.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Hongwei Liao et al. “A PROTAC peptide induces durable -catenin degradation and suppresses Wnt-dependent intestinal cancer”. In: Cell Discovery 6.1 (2020), p. 35. doi: 10.1038/s41421-020-0171-1. url: https://doi.org/10.1038/s41421-020-0171-1.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Reza Nasr and Mohammad Reza Akbari Eidgahi. “Construction of a Synthetically Engineered nirB Promoter for Expression of Recombinant Protein in Escherichia coli.” In: Jundishapur J Microbiol 7.7 (July 2014), e15942.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Kotaro Sakamoto et al. “The K-Ras(G12D)-inhibitory peptide KS-58 suppresses growth of murine CT26 colorectal cancer cell-derived tumors”. In: Scientific Reports 12.1 (2022), p. 8121. doi: 10.1038/s41598-022-12401-3. url: https://doi.org/10.1038/s41598-022-12401-3.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